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6205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titre. Annoncer le nom du projet et le sujet de ta partie. ~10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 concept et l'archi (backend/frontend/base). Insister : le socle existait, ma partie c'est Google Places. ~45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Poser la problématique : pourquoi l'API. Le Stade de France ≠ un square. On veut que le terrain compte. ~30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Présenter les 4 types DNA avec les couleurs. C'est le coeur visuel. Mentionner NEUTRE rapidement. ~45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Expliquer les 2 passes : appel API + analyse du nom. Le résultat est stocké avec une 'évidence' lisible. ~1 min 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Découverte auto : on choisit une zone → arènes créées avec DNA + sport. Bien insister sur le mode de secours (robustesse). ~30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coeur stratégique : chaque équipe choisit une spécialité. Même type = +10%, type opposé = -10%. Montrer les 2 oppositions ABYSSE/NEXUS et OLYMPE/EDEN. ~1 min 30.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 4 bonus s'empilent (jusqu'à +65%). Puis la formule. Puis le garde-fou : si une équipe mène de 2 buts, le brut l'emporte ; sinon les bonus décident. Insister : les bonus amplifient les matchs serrés sans dénaturer un résultat clair. ~1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Frontend : marqueurs colorés, popup au clic. Insister sur le changement : les DEUX équipes voient leurs bonus, vainqueur = badge. INSÉRER une capture de la carte. ~30 sec.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b="1" dirty="0"/>
              <a:t>Comment j'appelle Google Places</a:t>
            </a:r>
          </a:p>
          <a:p>
            <a:r>
              <a:rPr lang="fr-FR" dirty="0"/>
              <a:t>Tout se passe dans 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GooglePlacesService.java</a:t>
            </a:r>
            <a:r>
              <a:rPr lang="fr-FR" dirty="0"/>
              <a:t>. Je fais un simple GET HTTP vers </a:t>
            </a:r>
            <a:r>
              <a:rPr lang="fr-FR" dirty="0" err="1"/>
              <a:t>l'endpoint</a:t>
            </a:r>
            <a:r>
              <a:rPr lang="fr-FR" dirty="0"/>
              <a:t> </a:t>
            </a:r>
            <a:r>
              <a:rPr lang="fr-FR" dirty="0" err="1"/>
              <a:t>Nearby</a:t>
            </a:r>
            <a:r>
              <a:rPr lang="fr-FR" dirty="0"/>
              <a:t> Search de Google, en lui passant les coordonnées GPS de l'arène et un rayon d'un kilomètre. Google me renvoie du JSON — une liste de lieux autour de l'arène. Je parse ce JSON avec Jackson pour en faire des objets Java exploitables.</a:t>
            </a:r>
          </a:p>
          <a:p>
            <a:r>
              <a:rPr lang="fr-FR" dirty="0"/>
              <a:t>Si la clé API est absente ou que Google ne répond pas, je classe l'arène NEUTRE directement, sans inventer de données.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b="1" dirty="0"/>
              <a:t>Comment je fais la classification</a:t>
            </a:r>
          </a:p>
          <a:p>
            <a:r>
              <a:rPr lang="fr-FR" dirty="0"/>
              <a:t>Tout converge vers </a:t>
            </a:r>
            <a:r>
              <a:rPr lang="fr-FR" sz="1200" b="1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classifyWithScores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fr-FR" dirty="0"/>
              <a:t> dans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GooglePlacesService.java</a:t>
            </a:r>
            <a:r>
              <a:rPr lang="fr-FR" dirty="0"/>
              <a:t>, déclenchée soit au démarrage du serveur via 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ContextService.java</a:t>
            </a:r>
            <a:r>
              <a:rPr lang="fr-FR" dirty="0"/>
              <a:t>, soit à la première capture d'une arène.</a:t>
            </a:r>
          </a:p>
          <a:p>
            <a:r>
              <a:rPr lang="fr-FR" dirty="0"/>
              <a:t>Pour chaque lieu renvoyé par Google, je fais deux choses :</a:t>
            </a:r>
          </a:p>
          <a:p>
            <a:r>
              <a:rPr lang="fr-FR" b="1" dirty="0"/>
              <a:t>Passe 1</a:t>
            </a:r>
            <a:r>
              <a:rPr lang="fr-FR" dirty="0"/>
              <a:t> — je regarde son type Google Places et je lui attribue un poids. Un stade vaut 5 points pour OLYMPE, une piscine 4 points pour ABYSSE, etc. Je multiplie ce poids par un score de proximité — plus le lieu est proche, plus il pèse. Un lieu à moins de 80 mètres est doublé, parce que c'est probablement le stade lui-même.</a:t>
            </a:r>
          </a:p>
          <a:p>
            <a:r>
              <a:rPr lang="fr-FR" b="1" dirty="0"/>
              <a:t>Passe 2</a:t>
            </a:r>
            <a:r>
              <a:rPr lang="fr-FR" dirty="0"/>
              <a:t> — je lis le nom du lieu. Si le mot "parc" ou "gare" ou "piscine" apparaît dedans, j'ajoute des points au type correspondant. Sans appel API, juste des expressions régulières.</a:t>
            </a:r>
          </a:p>
          <a:p>
            <a:r>
              <a:rPr lang="fr-FR" dirty="0"/>
              <a:t>À la fin, le type avec le score le plus élevé l'emporte. Le résultat est sauvegardé en base sur l'entité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Arene</a:t>
            </a:r>
            <a:r>
              <a:rPr lang="fr-FR" dirty="0"/>
              <a:t> — une seule fois, pas recalculé à chaque match. Si Google n'a rien renvoyé, je fais le même travail directement sur le nom de l'arène stocké en base.</a:t>
            </a:r>
          </a:p>
          <a:p>
            <a:br>
              <a:rPr lang="fr-FR" dirty="0"/>
            </a:br>
            <a:endParaRPr lang="fr-FR" dirty="0"/>
          </a:p>
          <a:p>
            <a:r>
              <a:rPr lang="fr-FR" b="1" dirty="0"/>
              <a:t>Comment je calcule les bonus</a:t>
            </a:r>
          </a:p>
          <a:p>
            <a:r>
              <a:rPr lang="fr-FR" dirty="0"/>
              <a:t>Tout se passe dans 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ContextService.java</a:t>
            </a:r>
            <a:r>
              <a:rPr lang="fr-FR" dirty="0"/>
              <a:t>, méthode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buildContextBonus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fr-FR" dirty="0"/>
              <a:t>, appelée par 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SessionService.java</a:t>
            </a:r>
            <a:r>
              <a:rPr lang="fr-FR" dirty="0"/>
              <a:t> avant de déterminer le vainqueur.</a:t>
            </a:r>
          </a:p>
          <a:p>
            <a:r>
              <a:rPr lang="fr-FR" dirty="0"/>
              <a:t>Je calcule cinq bonus dans l'ordre :</a:t>
            </a:r>
          </a:p>
          <a:p>
            <a:r>
              <a:rPr lang="fr-FR" b="1" dirty="0"/>
              <a:t>+20%</a:t>
            </a:r>
            <a:r>
              <a:rPr lang="fr-FR" dirty="0"/>
              <a:t> si l'arène a un type DNA — c'est le bonus géographique de base.</a:t>
            </a:r>
          </a:p>
          <a:p>
            <a:r>
              <a:rPr lang="fr-FR" b="1" dirty="0"/>
              <a:t>+5%</a:t>
            </a:r>
            <a:r>
              <a:rPr lang="fr-FR" dirty="0"/>
              <a:t> si l'heure actuelle correspond à la fenêtre horaire du type — calculé en live à chaque match.</a:t>
            </a:r>
          </a:p>
          <a:p>
            <a:r>
              <a:rPr lang="fr-FR" b="1" dirty="0"/>
              <a:t>+10%</a:t>
            </a:r>
            <a:r>
              <a:rPr lang="fr-FR" dirty="0"/>
              <a:t> si l'aura de l'équipe correspond au type de l'arène — l'aura se construit à partir des 10 dernières arènes distinctes capturées, dans 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ContextService.java</a:t>
            </a:r>
            <a:r>
              <a:rPr lang="fr-FR" dirty="0"/>
              <a:t> méthode </a:t>
            </a:r>
            <a:r>
              <a:rPr lang="fr-FR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computeAuraFromHistory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()</a:t>
            </a:r>
            <a:r>
              <a:rPr lang="fr-FR" dirty="0"/>
              <a:t>.</a:t>
            </a:r>
          </a:p>
          <a:p>
            <a:r>
              <a:rPr lang="fr-FR" b="1" dirty="0"/>
              <a:t>+10% ou -10%</a:t>
            </a:r>
            <a:r>
              <a:rPr lang="fr-FR" dirty="0"/>
              <a:t> selon l'affinité de l'équipe — même type que l'arène c'est un bonus, type opposé c'est un malus.</a:t>
            </a:r>
          </a:p>
          <a:p>
            <a:r>
              <a:rPr lang="fr-FR" b="1" dirty="0"/>
              <a:t>+20%</a:t>
            </a:r>
            <a:r>
              <a:rPr lang="fr-FR" dirty="0"/>
              <a:t> si le Terrain </a:t>
            </a:r>
            <a:r>
              <a:rPr lang="fr-FR" dirty="0" err="1"/>
              <a:t>Mastery</a:t>
            </a:r>
            <a:r>
              <a:rPr lang="fr-FR" dirty="0"/>
              <a:t> est actif — géré dans </a:t>
            </a:r>
            <a:r>
              <a:rPr lang="fr-FR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TerrainMasteryService.java</a:t>
            </a:r>
            <a:r>
              <a:rPr lang="fr-FR" dirty="0"/>
              <a:t>.</a:t>
            </a:r>
          </a:p>
          <a:p>
            <a:r>
              <a:rPr lang="fr-FR" dirty="0"/>
              <a:t>Je somme tout ça et j'applique la formule dans </a:t>
            </a:r>
            <a:r>
              <a:rPr lang="fr-FR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SessionService.java</a:t>
            </a:r>
            <a:r>
              <a:rPr lang="fr-FR" dirty="0"/>
              <a:t> : </a:t>
            </a:r>
            <a:r>
              <a:rPr lang="fr-FR" b="1" dirty="0"/>
              <a:t>score final = score brut × (1 + modificateur)</a:t>
            </a:r>
            <a:r>
              <a:rPr lang="fr-FR" dirty="0"/>
              <a:t>. C'est ce score final qui décide du vainqueur, avec le garde-fou : si une équipe mène de deux points ou plus au score brut, les bonus sont ignorés.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>
            <a:extLst>
              <a:ext uri="{FF2B5EF4-FFF2-40B4-BE49-F238E27FC236}">
                <a16:creationId xmlns:a16="http://schemas.microsoft.com/office/drawing/2014/main" id="{ECEB8936-E41A-73C0-F28F-F2A5272E7F0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57340"/>
            <a:ext cx="110331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r-FR" sz="900">
                <a:solidFill>
                  <a:srgbClr val="CF022B">
                    <a:alpha val="50000"/>
                  </a:srgb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C2 – Usage restreint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2000"/>
          </a:blip>
          <a:stretch>
            <a:fillRect/>
          </a:stretch>
        </p:blipFill>
        <p:spPr>
          <a:xfrm>
            <a:off x="8778240" y="1097280"/>
            <a:ext cx="4206240" cy="4206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M1 — DEVOPS2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77240" y="178308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SportsIn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822960" y="2971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 le terrain réel devient une donnée de jeu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22960" y="370332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de l'API Google Places dans un jeu géolocalisé de conquête sportive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41248" y="4892040"/>
            <a:ext cx="201168" cy="201168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1097280" y="4846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ABYSSE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167128" y="4892040"/>
            <a:ext cx="201168" cy="201168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2423160" y="4846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93008" y="4892040"/>
            <a:ext cx="201168" cy="201168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3749040" y="4846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EDEN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818888" y="4892040"/>
            <a:ext cx="201168" cy="201168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5074920" y="484632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22960" y="5989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Présenté par Ryad  ·  Partie : Intégration API externe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projet en bref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58368" y="1234440"/>
            <a:ext cx="10789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jeu géolocalisé de conquête sportive en temps réel — type Pokémon Go / Ingress, centré sur le sport. Des équipes capturent des arènes pour étendre leur territoire.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58368" y="237744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932688" y="2651760"/>
            <a:ext cx="685800" cy="6858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27889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01368" y="26700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801368" y="29443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Spring Boot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932688" y="3520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logique serveur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15968" y="237744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590288" y="2651760"/>
            <a:ext cx="685800" cy="6858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7448" y="27889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58968" y="26700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58968" y="29443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+ Vite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590288" y="3520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voit l'utilisateur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7973568" y="2377440"/>
            <a:ext cx="3383280" cy="1691640"/>
          </a:xfrm>
          <a:prstGeom prst="roundRect">
            <a:avLst>
              <a:gd name="adj" fmla="val 5405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3"/>
          <p:cNvSpPr/>
          <p:nvPr/>
        </p:nvSpPr>
        <p:spPr>
          <a:xfrm>
            <a:off x="8247888" y="2651760"/>
            <a:ext cx="685800" cy="6858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2788920"/>
            <a:ext cx="411480" cy="4114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16568" y="26700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9116568" y="294436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SQLite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247888" y="35204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des arènes &amp; équipes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58368" y="4343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Mécaniques du jeu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658368" y="47548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19"/>
          <p:cNvSpPr/>
          <p:nvPr/>
        </p:nvSpPr>
        <p:spPr>
          <a:xfrm>
            <a:off x="658368" y="4754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Équipes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2871216" y="47548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21"/>
          <p:cNvSpPr/>
          <p:nvPr/>
        </p:nvSpPr>
        <p:spPr>
          <a:xfrm>
            <a:off x="2871216" y="4754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de match</a:t>
            </a:r>
            <a:endParaRPr lang="en-US" sz="1250" dirty="0"/>
          </a:p>
        </p:txBody>
      </p:sp>
      <p:sp>
        <p:nvSpPr>
          <p:cNvPr id="27" name="Shape 22"/>
          <p:cNvSpPr/>
          <p:nvPr/>
        </p:nvSpPr>
        <p:spPr>
          <a:xfrm>
            <a:off x="5084064" y="47548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3"/>
          <p:cNvSpPr/>
          <p:nvPr/>
        </p:nvSpPr>
        <p:spPr>
          <a:xfrm>
            <a:off x="5084064" y="4754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&amp; XP</a:t>
            </a:r>
            <a:endParaRPr lang="en-US" sz="1250" dirty="0"/>
          </a:p>
        </p:txBody>
      </p:sp>
      <p:sp>
        <p:nvSpPr>
          <p:cNvPr id="29" name="Shape 24"/>
          <p:cNvSpPr/>
          <p:nvPr/>
        </p:nvSpPr>
        <p:spPr>
          <a:xfrm>
            <a:off x="7296912" y="47548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Text 25"/>
          <p:cNvSpPr/>
          <p:nvPr/>
        </p:nvSpPr>
        <p:spPr>
          <a:xfrm>
            <a:off x="7296912" y="4754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dynamiques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9509760" y="4754880"/>
            <a:ext cx="2057400" cy="54864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7"/>
          <p:cNvSpPr/>
          <p:nvPr/>
        </p:nvSpPr>
        <p:spPr>
          <a:xfrm>
            <a:off x="9509760" y="475488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interactive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658368" y="571500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socle du jeu existait déjà. Ma partie : l'intégration de l'API Google Places.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4000"/>
          </a:blip>
          <a:stretch>
            <a:fillRect/>
          </a:stretch>
        </p:blipFill>
        <p:spPr>
          <a:xfrm>
            <a:off x="9052560" y="64008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problème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640080" y="105156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Une arène n'est pas juste un point GPS</a:t>
            </a:r>
            <a:endParaRPr lang="en-US" sz="4000" dirty="0"/>
          </a:p>
        </p:txBody>
      </p:sp>
      <p:sp>
        <p:nvSpPr>
          <p:cNvPr id="5" name="Shape 2"/>
          <p:cNvSpPr/>
          <p:nvPr/>
        </p:nvSpPr>
        <p:spPr>
          <a:xfrm>
            <a:off x="640080" y="251460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914400" y="2788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🏟  Stade de France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14400" y="33375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Entouré de stades, monuments, universités. Une zone à forte densité sportive.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09360" y="2514600"/>
            <a:ext cx="5212080" cy="2103120"/>
          </a:xfrm>
          <a:prstGeom prst="roundRect">
            <a:avLst>
              <a:gd name="adj" fmla="val 4348"/>
            </a:avLst>
          </a:prstGeom>
          <a:solidFill>
            <a:srgbClr val="1E293B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583680" y="27889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🌳  Square de quartier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83680" y="333756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Entouré de verdure, sans infrastructure sportive. Un contexte totalement différent.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502920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L'idée : </a:t>
            </a:r>
            <a:r>
              <a:rPr lang="en-US" sz="17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en sorte que l'environnement réel autour d'une arène influence le jeu.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Pour ça, il faut savoir automatiquement ce qu'il y a autour → </a:t>
            </a:r>
            <a:r>
              <a:rPr lang="en-US" sz="17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Places.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400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« DNA » d'arène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658368" y="13258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arène reçoit automatiquement un profil de terrain parmi quatre types.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8368" y="201168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658368" y="2011680"/>
            <a:ext cx="2542032" cy="1234440"/>
          </a:xfrm>
          <a:prstGeom prst="roundRect">
            <a:avLst>
              <a:gd name="adj" fmla="val 7407"/>
            </a:avLst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658368" y="2834640"/>
            <a:ext cx="2542032" cy="411480"/>
          </a:xfrm>
          <a:prstGeom prst="rect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344" y="228600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33375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ABYSSE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658368" y="379476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Aquatique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41248" y="4206240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Lacs, ports, piscines, rivières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3419856" y="201168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0"/>
          <p:cNvSpPr/>
          <p:nvPr/>
        </p:nvSpPr>
        <p:spPr>
          <a:xfrm>
            <a:off x="3419856" y="2011680"/>
            <a:ext cx="2542032" cy="1234440"/>
          </a:xfrm>
          <a:prstGeom prst="roundRect">
            <a:avLst>
              <a:gd name="adj" fmla="val 7407"/>
            </a:avLst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3419856" y="2834640"/>
            <a:ext cx="2542032" cy="41148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0832" y="2286000"/>
            <a:ext cx="640080" cy="6400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19856" y="33375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OLYMPE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3419856" y="379476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Prestige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3602736" y="4206240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Stades, musées, monuments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181344" y="201168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6"/>
          <p:cNvSpPr/>
          <p:nvPr/>
        </p:nvSpPr>
        <p:spPr>
          <a:xfrm>
            <a:off x="6181344" y="2011680"/>
            <a:ext cx="2542032" cy="1234440"/>
          </a:xfrm>
          <a:prstGeom prst="roundRect">
            <a:avLst>
              <a:gd name="adj" fmla="val 7407"/>
            </a:avLst>
          </a:prstGeom>
          <a:solidFill>
            <a:srgbClr val="4ADE8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Shape 17"/>
          <p:cNvSpPr/>
          <p:nvPr/>
        </p:nvSpPr>
        <p:spPr>
          <a:xfrm>
            <a:off x="6181344" y="2834640"/>
            <a:ext cx="2542032" cy="411480"/>
          </a:xfrm>
          <a:prstGeom prst="rect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0" y="2286000"/>
            <a:ext cx="640080" cy="6400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181344" y="33375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EDEN</a:t>
            </a:r>
            <a:endParaRPr lang="en-US" sz="2400" dirty="0"/>
          </a:p>
        </p:txBody>
      </p:sp>
      <p:sp>
        <p:nvSpPr>
          <p:cNvPr id="25" name="Text 19"/>
          <p:cNvSpPr/>
          <p:nvPr/>
        </p:nvSpPr>
        <p:spPr>
          <a:xfrm>
            <a:off x="6181344" y="379476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6364224" y="4206240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Parcs, forêts, espaces verts</a:t>
            </a:r>
            <a:endParaRPr lang="en-US" sz="1350" dirty="0"/>
          </a:p>
        </p:txBody>
      </p:sp>
      <p:sp>
        <p:nvSpPr>
          <p:cNvPr id="27" name="Shape 21"/>
          <p:cNvSpPr/>
          <p:nvPr/>
        </p:nvSpPr>
        <p:spPr>
          <a:xfrm>
            <a:off x="8942832" y="2011680"/>
            <a:ext cx="2542032" cy="3291840"/>
          </a:xfrm>
          <a:prstGeom prst="roundRect">
            <a:avLst>
              <a:gd name="adj" fmla="val 3597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Shape 22"/>
          <p:cNvSpPr/>
          <p:nvPr/>
        </p:nvSpPr>
        <p:spPr>
          <a:xfrm>
            <a:off x="8942832" y="2011680"/>
            <a:ext cx="2542032" cy="1234440"/>
          </a:xfrm>
          <a:prstGeom prst="roundRect">
            <a:avLst>
              <a:gd name="adj" fmla="val 7407"/>
            </a:avLst>
          </a:prstGeom>
          <a:solidFill>
            <a:srgbClr val="F8717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9" name="Shape 23"/>
          <p:cNvSpPr/>
          <p:nvPr/>
        </p:nvSpPr>
        <p:spPr>
          <a:xfrm>
            <a:off x="8942832" y="2834640"/>
            <a:ext cx="2542032" cy="411480"/>
          </a:xfrm>
          <a:prstGeom prst="rect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93808" y="2286000"/>
            <a:ext cx="640080" cy="64008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942832" y="33375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NEXUS</a:t>
            </a:r>
            <a:endParaRPr lang="en-US" sz="2400" dirty="0"/>
          </a:p>
        </p:txBody>
      </p:sp>
      <p:sp>
        <p:nvSpPr>
          <p:cNvPr id="32" name="Text 25"/>
          <p:cNvSpPr/>
          <p:nvPr/>
        </p:nvSpPr>
        <p:spPr>
          <a:xfrm>
            <a:off x="8942832" y="3794760"/>
            <a:ext cx="2542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Urbain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9125712" y="4206240"/>
            <a:ext cx="2176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Gares, aéroports, zones denses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658368" y="56235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cinquième état, NEUTRE, s'applique quand aucun type ne se détache.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400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l'arène est classée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58368" y="1508760"/>
            <a:ext cx="768096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914400" y="1892808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914400" y="18928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828800" y="16733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Recherche de lieux à proximité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828800" y="2057400"/>
            <a:ext cx="6355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Appel Google Places (Nearby Search) dans un rayon d'1 km. Chaque lieu trouvé pondère un score par type : un stade vaut 5 pts pour OLYMPE, une plage 4 pts pour ABYSSE…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58368" y="3108960"/>
            <a:ext cx="7680960" cy="1417320"/>
          </a:xfrm>
          <a:prstGeom prst="roundRect">
            <a:avLst>
              <a:gd name="adj" fmla="val 6452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914400" y="3493008"/>
            <a:ext cx="640080" cy="64008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914400" y="349300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1828800" y="3273552"/>
            <a:ext cx="6309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Analyse du nom de l'arène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1828800" y="3657600"/>
            <a:ext cx="6355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du nom via des expressions régulières en français (« stade », « parc », « gare »…). Sans appel API, donc sans consommer de quota.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58368" y="4800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boost de proximité si un lieu est très proche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641080" y="1518091"/>
            <a:ext cx="2880360" cy="3611880"/>
          </a:xfrm>
          <a:prstGeom prst="roundRect">
            <a:avLst>
              <a:gd name="adj" fmla="val 3175"/>
            </a:avLst>
          </a:prstGeom>
          <a:solidFill>
            <a:srgbClr val="0F172A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8869680" y="1783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EST STOCKÉ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869680" y="2286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terrain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869680" y="253288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OLYMPE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869680" y="29443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de confiance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869680" y="319125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1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869680" y="3602736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Lieux inspectés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8869680" y="384962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8869680" y="42611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Évidence »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869680" y="450799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texte lisible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658368" y="539496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: « Parc des Princes — stade à 50 m, gymnase à 230 m »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400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Découverte automatique d'arènes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58368" y="132588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besoin de saisir les stades à la main : on lance une recherche sur une zone, et les arènes se créent toutes seules.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8368" y="2194560"/>
            <a:ext cx="3246120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1938528" y="2423160"/>
            <a:ext cx="685800" cy="6858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84832" y="2569464"/>
            <a:ext cx="393192" cy="3931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" y="3246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choisit une zone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841248" y="36118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 les 10 grandes villes françaises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858768" y="26060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2" name="Shape 8"/>
          <p:cNvSpPr/>
          <p:nvPr/>
        </p:nvSpPr>
        <p:spPr>
          <a:xfrm>
            <a:off x="4453128" y="2194560"/>
            <a:ext cx="3246120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9"/>
          <p:cNvSpPr/>
          <p:nvPr/>
        </p:nvSpPr>
        <p:spPr>
          <a:xfrm>
            <a:off x="5733288" y="2423160"/>
            <a:ext cx="685800" cy="6858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592" y="2569464"/>
            <a:ext cx="393192" cy="3931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36008" y="3246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Création en base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4636008" y="36118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Arènes créées automatiquement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7653528" y="260604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3"/>
          <p:cNvSpPr/>
          <p:nvPr/>
        </p:nvSpPr>
        <p:spPr>
          <a:xfrm>
            <a:off x="8247888" y="2194560"/>
            <a:ext cx="3246120" cy="18288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4"/>
          <p:cNvSpPr/>
          <p:nvPr/>
        </p:nvSpPr>
        <p:spPr>
          <a:xfrm>
            <a:off x="9528048" y="2423160"/>
            <a:ext cx="685800" cy="6858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4352" y="2569464"/>
            <a:ext cx="393192" cy="3931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30768" y="324612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 + sport détectés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8430768" y="36118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DNA et sport principal déduits de Google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658368" y="4434840"/>
            <a:ext cx="10863072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18"/>
          <p:cNvSpPr/>
          <p:nvPr/>
        </p:nvSpPr>
        <p:spPr>
          <a:xfrm>
            <a:off x="960120" y="4754880"/>
            <a:ext cx="640080" cy="64008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4892040"/>
            <a:ext cx="365760" cy="3657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783080" y="4617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de secours</a:t>
            </a:r>
            <a:endParaRPr lang="en-US" sz="1800" dirty="0"/>
          </a:p>
        </p:txBody>
      </p:sp>
      <p:sp>
        <p:nvSpPr>
          <p:cNvPr id="27" name="Text 20"/>
          <p:cNvSpPr/>
          <p:nvPr/>
        </p:nvSpPr>
        <p:spPr>
          <a:xfrm>
            <a:off x="1783080" y="5029200"/>
            <a:ext cx="9509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clé API n'est pas configurée, une vingtaine de stades français sont déjà </a:t>
            </a:r>
            <a:r>
              <a:rPr lang="en-US" sz="14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pré-intégrés</a:t>
            </a: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le jeu reste jouable sans connexion.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649224"/>
            <a:ext cx="347472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L'avantage des équipes : l'affinité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58368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équipe choisit une spécialité de terrain. Selon le type d'arène qu'elle capture, elle gagne ou perd des points.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8368" y="187452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240280"/>
            <a:ext cx="502920" cy="5029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91640" y="20574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Arène du MÊME type que sa spécialité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est sur son terrain de prédilection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4572000" y="21488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+10%</a:t>
            </a:r>
            <a:endParaRPr lang="en-US" sz="3000" dirty="0"/>
          </a:p>
        </p:txBody>
      </p:sp>
      <p:sp>
        <p:nvSpPr>
          <p:cNvPr id="10" name="Shape 6"/>
          <p:cNvSpPr/>
          <p:nvPr/>
        </p:nvSpPr>
        <p:spPr>
          <a:xfrm>
            <a:off x="6153912" y="1874520"/>
            <a:ext cx="5367528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2240280"/>
            <a:ext cx="502920" cy="50292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187184" y="205740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Arène du type OPPOSÉ à sa spécialité</a:t>
            </a:r>
            <a:endParaRPr lang="en-US" sz="14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L'équipe joue à contre-courant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10058400" y="2148840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0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−10%</a:t>
            </a:r>
            <a:endParaRPr lang="en-US" sz="3000" dirty="0"/>
          </a:p>
        </p:txBody>
      </p:sp>
      <p:sp>
        <p:nvSpPr>
          <p:cNvPr id="14" name="Text 9"/>
          <p:cNvSpPr/>
          <p:nvPr/>
        </p:nvSpPr>
        <p:spPr>
          <a:xfrm>
            <a:off x="658368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oppositions de terrain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58368" y="370332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1161288" y="4023360"/>
            <a:ext cx="1051560" cy="105156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8176" y="4270248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1248" y="5120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ABYSSE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2624328" y="41605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4400" dirty="0"/>
          </a:p>
        </p:txBody>
      </p:sp>
      <p:sp>
        <p:nvSpPr>
          <p:cNvPr id="20" name="Text 14"/>
          <p:cNvSpPr/>
          <p:nvPr/>
        </p:nvSpPr>
        <p:spPr>
          <a:xfrm>
            <a:off x="2624328" y="49834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opposés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453128" y="4023360"/>
            <a:ext cx="1051560" cy="1051560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0016" y="4270248"/>
            <a:ext cx="548640" cy="5486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133088" y="5120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NEXUS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841248" y="54864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l'eau contre le béton urbain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153912" y="370332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19"/>
          <p:cNvSpPr/>
          <p:nvPr/>
        </p:nvSpPr>
        <p:spPr>
          <a:xfrm>
            <a:off x="6656832" y="4023360"/>
            <a:ext cx="1051560" cy="1051560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3720" y="4270248"/>
            <a:ext cx="548640" cy="54864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336792" y="5120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OLYMPE</a:t>
            </a:r>
            <a:endParaRPr lang="en-US" sz="1700" dirty="0"/>
          </a:p>
        </p:txBody>
      </p:sp>
      <p:sp>
        <p:nvSpPr>
          <p:cNvPr id="29" name="Text 21"/>
          <p:cNvSpPr/>
          <p:nvPr/>
        </p:nvSpPr>
        <p:spPr>
          <a:xfrm>
            <a:off x="8119872" y="416052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4400" dirty="0"/>
          </a:p>
        </p:txBody>
      </p:sp>
      <p:sp>
        <p:nvSpPr>
          <p:cNvPr id="30" name="Text 22"/>
          <p:cNvSpPr/>
          <p:nvPr/>
        </p:nvSpPr>
        <p:spPr>
          <a:xfrm>
            <a:off x="8119872" y="498348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opposés</a:t>
            </a:r>
            <a:endParaRPr lang="en-US" sz="1100" dirty="0"/>
          </a:p>
        </p:txBody>
      </p:sp>
      <p:sp>
        <p:nvSpPr>
          <p:cNvPr id="31" name="Shape 23"/>
          <p:cNvSpPr/>
          <p:nvPr/>
        </p:nvSpPr>
        <p:spPr>
          <a:xfrm>
            <a:off x="9948672" y="4023360"/>
            <a:ext cx="1051560" cy="105156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95560" y="4270248"/>
            <a:ext cx="548640" cy="54864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628632" y="51206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EDEN</a:t>
            </a:r>
            <a:endParaRPr lang="en-US" sz="1700" dirty="0"/>
          </a:p>
        </p:txBody>
      </p:sp>
      <p:sp>
        <p:nvSpPr>
          <p:cNvPr id="34" name="Text 25"/>
          <p:cNvSpPr/>
          <p:nvPr/>
        </p:nvSpPr>
        <p:spPr>
          <a:xfrm>
            <a:off x="6336792" y="5486400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prestige contre la nature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400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calcul du score : bonus + garde-fou</a:t>
            </a:r>
            <a:endParaRPr lang="en-US" sz="2900" dirty="0"/>
          </a:p>
        </p:txBody>
      </p:sp>
      <p:sp>
        <p:nvSpPr>
          <p:cNvPr id="5" name="Text 2"/>
          <p:cNvSpPr/>
          <p:nvPr/>
        </p:nvSpPr>
        <p:spPr>
          <a:xfrm>
            <a:off x="658368" y="128016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bonus se cumulent dans un pipeline d'influence — mais ils ne peuvent jamais renverser un résultat clair.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58368" y="1874520"/>
            <a:ext cx="5349240" cy="4160520"/>
          </a:xfrm>
          <a:prstGeom prst="roundRect">
            <a:avLst>
              <a:gd name="adj" fmla="val 2198"/>
            </a:avLst>
          </a:prstGeom>
          <a:solidFill>
            <a:srgbClr val="1E293B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960120" y="2103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BONUS S'EMPILENT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60120" y="2660904"/>
            <a:ext cx="164592" cy="164592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1280160" y="260604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Géographique (DNA)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617720" y="26060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+20%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960120" y="3227832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1280160" y="3172968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Temporel (heure de la journée)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617720" y="31729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BB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+5%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960120" y="3794760"/>
            <a:ext cx="164592" cy="164592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1280160" y="3739896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Affinité + Aura (arènes distinctes)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617720" y="3739896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+10%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960120" y="4361688"/>
            <a:ext cx="164592" cy="164592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1280160" y="430682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Terrain Mastery (buff 6 h)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617720" y="43068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F871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+20%</a:t>
            </a:r>
            <a:endParaRPr lang="en-US" sz="1700" dirty="0"/>
          </a:p>
        </p:txBody>
      </p:sp>
      <p:sp>
        <p:nvSpPr>
          <p:cNvPr id="20" name="Shape 17"/>
          <p:cNvSpPr/>
          <p:nvPr/>
        </p:nvSpPr>
        <p:spPr>
          <a:xfrm>
            <a:off x="960120" y="5074920"/>
            <a:ext cx="475488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960120" y="52578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jusqu'à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2377440" y="521208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F973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+65%</a:t>
            </a:r>
            <a:endParaRPr lang="en-US" sz="4000" dirty="0"/>
          </a:p>
        </p:txBody>
      </p:sp>
      <p:sp>
        <p:nvSpPr>
          <p:cNvPr id="23" name="Shape 20"/>
          <p:cNvSpPr/>
          <p:nvPr/>
        </p:nvSpPr>
        <p:spPr>
          <a:xfrm>
            <a:off x="6172200" y="187452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0B1220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6446520" y="20299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FORMULE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446520" y="239572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 final</a:t>
            </a: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score brut  ×  ( 1 + </a:t>
            </a:r>
            <a:r>
              <a:rPr lang="en-US" sz="1600" b="1" dirty="0">
                <a:solidFill>
                  <a:srgbClr val="4ADE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modificateur</a:t>
            </a: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)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172200" y="3246120"/>
            <a:ext cx="457200" cy="4572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3346704"/>
            <a:ext cx="256032" cy="256032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766560" y="32461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GARDE-FOU</a:t>
            </a:r>
            <a:endParaRPr lang="en-US" sz="1300" dirty="0"/>
          </a:p>
        </p:txBody>
      </p:sp>
      <p:sp>
        <p:nvSpPr>
          <p:cNvPr id="29" name="Shape 25"/>
          <p:cNvSpPr/>
          <p:nvPr/>
        </p:nvSpPr>
        <p:spPr>
          <a:xfrm>
            <a:off x="6172200" y="3840480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0" name="Shape 26"/>
          <p:cNvSpPr/>
          <p:nvPr/>
        </p:nvSpPr>
        <p:spPr>
          <a:xfrm>
            <a:off x="6355080" y="4087368"/>
            <a:ext cx="164592" cy="164592"/>
          </a:xfrm>
          <a:prstGeom prst="ellipse">
            <a:avLst/>
          </a:prstGeom>
          <a:solidFill>
            <a:srgbClr val="F87171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7"/>
          <p:cNvSpPr/>
          <p:nvPr/>
        </p:nvSpPr>
        <p:spPr>
          <a:xfrm>
            <a:off x="6675120" y="3840480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2 buts d'écart</a:t>
            </a:r>
            <a:endParaRPr lang="en-US" sz="1450" dirty="0"/>
          </a:p>
        </p:txBody>
      </p:sp>
      <p:sp>
        <p:nvSpPr>
          <p:cNvPr id="32" name="Text 28"/>
          <p:cNvSpPr/>
          <p:nvPr/>
        </p:nvSpPr>
        <p:spPr>
          <a:xfrm>
            <a:off x="8732520" y="384048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score brut </a:t>
            </a:r>
            <a:r>
              <a:rPr lang="en-US" sz="1200" dirty="0" err="1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l'emporte</a:t>
            </a: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bonus ignorés</a:t>
            </a:r>
            <a:endParaRPr lang="en-US" sz="1200" dirty="0"/>
          </a:p>
        </p:txBody>
      </p:sp>
      <p:sp>
        <p:nvSpPr>
          <p:cNvPr id="33" name="Shape 29"/>
          <p:cNvSpPr/>
          <p:nvPr/>
        </p:nvSpPr>
        <p:spPr>
          <a:xfrm>
            <a:off x="6172200" y="4599432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Shape 30"/>
          <p:cNvSpPr/>
          <p:nvPr/>
        </p:nvSpPr>
        <p:spPr>
          <a:xfrm>
            <a:off x="6355080" y="4846320"/>
            <a:ext cx="164592" cy="164592"/>
          </a:xfrm>
          <a:prstGeom prst="ellipse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31"/>
          <p:cNvSpPr/>
          <p:nvPr/>
        </p:nvSpPr>
        <p:spPr>
          <a:xfrm>
            <a:off x="6675120" y="4599432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but d'écart</a:t>
            </a:r>
            <a:endParaRPr lang="en-US" sz="1450" dirty="0"/>
          </a:p>
        </p:txBody>
      </p:sp>
      <p:sp>
        <p:nvSpPr>
          <p:cNvPr id="36" name="Text 32"/>
          <p:cNvSpPr/>
          <p:nvPr/>
        </p:nvSpPr>
        <p:spPr>
          <a:xfrm>
            <a:off x="8732520" y="459943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score final (brut + bonus) décide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6172200" y="5358384"/>
            <a:ext cx="5349240" cy="658368"/>
          </a:xfrm>
          <a:prstGeom prst="roundRect">
            <a:avLst>
              <a:gd name="adj" fmla="val 11111"/>
            </a:avLst>
          </a:prstGeom>
          <a:solidFill>
            <a:srgbClr val="1E293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Shape 34"/>
          <p:cNvSpPr/>
          <p:nvPr/>
        </p:nvSpPr>
        <p:spPr>
          <a:xfrm>
            <a:off x="6355080" y="5605272"/>
            <a:ext cx="164592" cy="164592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9" name="Text 35"/>
          <p:cNvSpPr/>
          <p:nvPr/>
        </p:nvSpPr>
        <p:spPr>
          <a:xfrm>
            <a:off x="6675120" y="535838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Égalité parfaite</a:t>
            </a:r>
            <a:endParaRPr lang="en-US" sz="1450" dirty="0"/>
          </a:p>
        </p:txBody>
      </p:sp>
      <p:sp>
        <p:nvSpPr>
          <p:cNvPr id="40" name="Text 36"/>
          <p:cNvSpPr/>
          <p:nvPr/>
        </p:nvSpPr>
        <p:spPr>
          <a:xfrm>
            <a:off x="8732520" y="5358384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bonus décident entièrement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640080" cy="64008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40080"/>
            <a:ext cx="365760" cy="3657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Côté interface : la carte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58368" y="1508760"/>
            <a:ext cx="56235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marqueurs colorés par type de terrain sur la carte  </a:t>
            </a:r>
            <a:r>
              <a:rPr lang="en-US" sz="15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5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vague pour ABYSSE, un arbre pour EDEN, etc.</a:t>
            </a:r>
            <a:endParaRPr lang="en-US" sz="15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clic sur une arène, une popup affiche le détail des bonus actifs.</a:t>
            </a:r>
            <a:endParaRPr lang="en-US" sz="1550" dirty="0"/>
          </a:p>
          <a:p>
            <a:pPr marL="342900" indent="-342900">
              <a:lnSpc>
                <a:spcPct val="108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fin de match, les DEUX équipes voient leur modificateur </a:t>
            </a:r>
            <a:r>
              <a:rPr lang="en-US" sz="1550" dirty="0" err="1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</a:t>
            </a:r>
            <a:r>
              <a:rPr lang="en-US" sz="15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DNA, temporel, aura, affinité, Mastery  et non plus seulement le gagnant.</a:t>
            </a:r>
            <a:endParaRPr lang="en-US" sz="1550" dirty="0"/>
          </a:p>
          <a:p>
            <a:pPr marL="342900" indent="-342900">
              <a:lnSpc>
                <a:spcPct val="108000"/>
              </a:lnSpc>
              <a:buSzPct val="100000"/>
              <a:buChar char="•"/>
            </a:pPr>
            <a:r>
              <a:rPr lang="en-US" sz="15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vainqueur est simplement identifié par un badge : on comprend pourquoi on a gagné ou perdu.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7086600" y="2595716"/>
            <a:ext cx="4434840" cy="2982124"/>
          </a:xfrm>
          <a:prstGeom prst="roundRect">
            <a:avLst>
              <a:gd name="adj" fmla="val 2247"/>
            </a:avLst>
          </a:prstGeom>
          <a:solidFill>
            <a:srgbClr val="F1F5F9"/>
          </a:solidFill>
          <a:ln w="25400">
            <a:solidFill>
              <a:srgbClr val="F97316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alphaModFix amt="65000"/>
          </a:blip>
          <a:stretch>
            <a:fillRect/>
          </a:stretch>
        </p:blipFill>
        <p:spPr>
          <a:xfrm>
            <a:off x="8686800" y="2697480"/>
            <a:ext cx="685800" cy="685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720840" y="352044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📸  CAPTURE D'ÉCRAN À INSÉRER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812280" y="3931920"/>
            <a:ext cx="4434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de la carte (MapPage) avec les marqueurs DNA colorés</a:t>
            </a:r>
            <a:endParaRPr lang="en-US" sz="1250" dirty="0"/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9C9639A2-7B3C-8201-03E3-7216E2F216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719" y="2442046"/>
            <a:ext cx="5530602" cy="361982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>
            <a:alphaModFix amt="10000"/>
          </a:blip>
          <a:stretch>
            <a:fillRect/>
          </a:stretch>
        </p:blipFill>
        <p:spPr>
          <a:xfrm>
            <a:off x="9052560" y="91440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7772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résumé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31520" y="1234440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 coordonnées GPS</a:t>
            </a:r>
            <a:endParaRPr lang="en-US" sz="36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transformées en contexte de jeu vivant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731520" y="320040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310128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3200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automatique des arènes en 4 types de terrain</a:t>
            </a:r>
            <a:endParaRPr lang="en-US" sz="1650" dirty="0"/>
          </a:p>
        </p:txBody>
      </p:sp>
      <p:sp>
        <p:nvSpPr>
          <p:cNvPr id="8" name="Shape 4"/>
          <p:cNvSpPr/>
          <p:nvPr/>
        </p:nvSpPr>
        <p:spPr>
          <a:xfrm>
            <a:off x="731520" y="397764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087368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63040" y="39776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terrain devient une donnée stratégique (quand &amp; où capturer)</a:t>
            </a:r>
            <a:endParaRPr lang="en-US" sz="1650" dirty="0"/>
          </a:p>
        </p:txBody>
      </p:sp>
      <p:sp>
        <p:nvSpPr>
          <p:cNvPr id="11" name="Shape 6"/>
          <p:cNvSpPr/>
          <p:nvPr/>
        </p:nvSpPr>
        <p:spPr>
          <a:xfrm>
            <a:off x="731520" y="475488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864608"/>
            <a:ext cx="292608" cy="29260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63040" y="4754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Algorithme itéré plusieurs fois, robuste même sans API</a:t>
            </a:r>
            <a:endParaRPr lang="en-US" sz="1650" dirty="0"/>
          </a:p>
        </p:txBody>
      </p:sp>
      <p:sp>
        <p:nvSpPr>
          <p:cNvPr id="14" name="Text 8"/>
          <p:cNvSpPr/>
          <p:nvPr/>
        </p:nvSpPr>
        <p:spPr>
          <a:xfrm>
            <a:off x="731520" y="5897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de </a:t>
            </a:r>
            <a:r>
              <a:rPr lang="en-US" sz="2200" b="1" i="1" dirty="0" err="1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</a:t>
            </a:r>
            <a:r>
              <a:rPr lang="en-US" sz="2200" b="1" i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attention.</a:t>
            </a:r>
          </a:p>
          <a:p>
            <a:pPr marL="0" indent="0">
              <a:buNone/>
            </a:pPr>
            <a:endParaRPr lang="en-US" sz="2200" b="1" i="1" dirty="0">
              <a:solidFill>
                <a:srgbClr val="38BDF8"/>
              </a:solidFill>
              <a:latin typeface="Cambria" pitchFamily="34" charset="0"/>
              <a:ea typeface="Cambria" pitchFamily="34" charset="-122"/>
            </a:endParaRPr>
          </a:p>
          <a:p>
            <a:r>
              <a:rPr lang="en-US" sz="2200" b="1" i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</a:rPr>
              <a:t>Lien </a:t>
            </a:r>
            <a:r>
              <a:rPr lang="en-US" sz="2200" b="1" i="1" dirty="0" err="1">
                <a:solidFill>
                  <a:srgbClr val="38BDF8"/>
                </a:solidFill>
                <a:latin typeface="Cambria" pitchFamily="34" charset="0"/>
                <a:ea typeface="Cambria" pitchFamily="34" charset="-122"/>
              </a:rPr>
              <a:t>Github</a:t>
            </a:r>
            <a:r>
              <a:rPr lang="en-US" sz="2200" b="1" i="1" dirty="0">
                <a:solidFill>
                  <a:srgbClr val="38BDF8"/>
                </a:solidFill>
                <a:latin typeface="Cambria" pitchFamily="34" charset="0"/>
                <a:ea typeface="Cambria" pitchFamily="34" charset="-122"/>
              </a:rPr>
              <a:t> : https://github.com/ryad1602/SportsIn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bd1f144-26ac-4410-8fdb-05c7de218e82}" enabled="1" method="Standard" siteId="{8b87af7d-8647-4dc7-8df4-5f69a2011bb5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1640</Words>
  <Application>Microsoft Office PowerPoint</Application>
  <PresentationFormat>Grand écran</PresentationFormat>
  <Paragraphs>175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Tahoma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SportsIn — Intégration Google Places</dc:title>
  <dc:subject>PptxGenJS Presentation</dc:subject>
  <dc:creator>Ryad</dc:creator>
  <cp:lastModifiedBy>MESSAOUDI Ryad</cp:lastModifiedBy>
  <cp:revision>4</cp:revision>
  <dcterms:created xsi:type="dcterms:W3CDTF">2026-06-15T20:49:02Z</dcterms:created>
  <dcterms:modified xsi:type="dcterms:W3CDTF">2026-06-16T12:16:52Z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C2 – Usage restreint </vt:lpwstr>
  </property>
</Properties>
</file>